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2025–2026（1–6月）全道場進度總覽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10分鐘簡報｜總覽頁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029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4E79"/>
                </a:solidFill>
                <a:latin typeface="Microsoft JhengHei"/>
              </a:rPr>
              <a:t>整體進度重點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32588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595959"/>
                </a:solidFill>
                <a:latin typeface="Microsoft JhengHei"/>
              </a:rPr>
              <a:t>以 2026 年 1–6 月與 2025 年同期比較，快速掌握成長與需關注項目。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" y="1915667"/>
            <a:ext cx="2423160" cy="132588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594360" y="1874519"/>
            <a:ext cx="242316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874519"/>
            <a:ext cx="109728" cy="1325880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200253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求道人數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70AD47"/>
                </a:solidFill>
                <a:latin typeface="Microsoft JhengHei"/>
              </a:rPr>
              <a:t>2,290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7706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2025：1,635｜差異：+655（+40%）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69564" y="1915667"/>
            <a:ext cx="2423160" cy="132588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37560" y="1874519"/>
            <a:ext cx="242316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3337560" y="1874519"/>
            <a:ext cx="109728" cy="1325880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66160" y="200253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法會人數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313432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70AD47"/>
                </a:solidFill>
                <a:latin typeface="Microsoft JhengHei"/>
              </a:rPr>
              <a:t>466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27706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2025：421｜差異：+45（+11%）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12764" y="1915667"/>
            <a:ext cx="2423160" cy="132588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80760" y="1874519"/>
            <a:ext cx="2423160" cy="13258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080760" y="1874519"/>
            <a:ext cx="109728" cy="1325880"/>
          </a:xfrm>
          <a:prstGeom prst="rect">
            <a:avLst/>
          </a:prstGeom>
          <a:solidFill>
            <a:srgbClr val="C00000"/>
          </a:solidFill>
          <a:ln w="63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200253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新民人數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313432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C00000"/>
                </a:solidFill>
                <a:latin typeface="Microsoft JhengHei"/>
              </a:rPr>
              <a:t>373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27706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2025：487｜差異：-114（-23%）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3703320"/>
            <a:ext cx="8138160" cy="1783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68680" y="3886200"/>
            <a:ext cx="69494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F4E79"/>
                </a:solidFill>
                <a:latin typeface="Microsoft JhengHei"/>
              </a:rPr>
              <a:t>2025 vs 2026 數據比較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29768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指標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429768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2025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29768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66360" y="429768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差異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20" y="429768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增減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461772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62626"/>
                </a:solidFill>
                <a:latin typeface="Microsoft JhengHei"/>
              </a:rPr>
              <a:t>求道人數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14600" y="461772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</a:rPr>
              <a:t>1,635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461772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</a:rPr>
              <a:t>2,290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461772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70AD47"/>
                </a:solidFill>
                <a:latin typeface="Microsoft JhengHei"/>
              </a:rPr>
              <a:t>+655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46520" y="4617720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70AD47"/>
                </a:solidFill>
                <a:latin typeface="Microsoft JhengHei"/>
              </a:rPr>
              <a:t>+40%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92861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62626"/>
                </a:solidFill>
                <a:latin typeface="Microsoft JhengHei"/>
              </a:rPr>
              <a:t>法會人數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14600" y="492861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</a:rPr>
              <a:t>421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492861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</a:rPr>
              <a:t>466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66360" y="492861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70AD47"/>
                </a:solidFill>
                <a:latin typeface="Microsoft JhengHei"/>
              </a:rPr>
              <a:t>+45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4928616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70AD47"/>
                </a:solidFill>
                <a:latin typeface="Microsoft JhengHei"/>
              </a:rPr>
              <a:t>+11%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" y="5239512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262626"/>
                </a:solidFill>
                <a:latin typeface="Microsoft JhengHei"/>
              </a:rPr>
              <a:t>新民人數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14600" y="5239512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</a:rPr>
              <a:t>487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840480" y="5239512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262626"/>
                </a:solidFill>
                <a:latin typeface="Microsoft JhengHei"/>
              </a:rPr>
              <a:t>373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66360" y="5239512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C00000"/>
                </a:solidFill>
                <a:latin typeface="Microsoft JhengHei"/>
              </a:rPr>
              <a:t>-114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46520" y="5239512"/>
            <a:ext cx="109728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C00000"/>
                </a:solidFill>
                <a:latin typeface="Microsoft JhengHei"/>
              </a:rPr>
              <a:t>-23%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80" y="1143000"/>
            <a:ext cx="2514600" cy="4343400"/>
          </a:xfrm>
          <a:prstGeom prst="round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372600" y="141732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Microsoft JhengHei"/>
              </a:rPr>
              <a:t>關鍵結論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45168" y="1920240"/>
            <a:ext cx="2011680" cy="2331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20" b="0">
                <a:solidFill>
                  <a:srgbClr val="FFFFFF"/>
                </a:solidFill>
                <a:latin typeface="Microsoft JhengHei"/>
              </a:rPr>
              <a:t>• 求道人數成長 40%
• 法會人數成長 11%
• 新民人數下降 23%，後續需加強法會後銜接與培育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資料來源：summary.xlsx；統計期間：2026/01/01 至 2026/06/30。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北區道親進班率分析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呈現北區總數｜不拆北1/北2/北3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3657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2F5496"/>
                </a:solidFill>
                <a:latin typeface="Microsoft JhengHei"/>
              </a:rPr>
              <a:t>核心數據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" y="1458468"/>
            <a:ext cx="256032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5603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09728" cy="1234440"/>
          </a:xfrm>
          <a:prstGeom prst="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45336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求道總數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2F5496"/>
                </a:solidFill>
                <a:latin typeface="Microsoft JhengHei"/>
              </a:rPr>
              <a:t>1,019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2240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北區整體求道人數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1004" y="1458468"/>
            <a:ext cx="256032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9000" y="1417320"/>
            <a:ext cx="25603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29000" y="1417320"/>
            <a:ext cx="109728" cy="1234440"/>
          </a:xfrm>
          <a:prstGeom prst="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1545336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可開法會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5623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5B9BD5"/>
                </a:solidFill>
                <a:latin typeface="Microsoft JhengHei"/>
              </a:rPr>
              <a:t>817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313432"/>
            <a:ext cx="2240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佔求道 80.2%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5644" y="1458468"/>
            <a:ext cx="256032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63640" y="1417320"/>
            <a:ext cx="25603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109728" cy="1234440"/>
          </a:xfrm>
          <a:prstGeom prst="rect">
            <a:avLst/>
          </a:prstGeom>
          <a:solidFill>
            <a:srgbClr val="4BACC6"/>
          </a:solidFill>
          <a:ln w="6350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545336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已開法會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5623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4BACC6"/>
                </a:solidFill>
                <a:latin typeface="Microsoft JhengHei"/>
              </a:rPr>
              <a:t>67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13432"/>
            <a:ext cx="2240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佔求道 6.6%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0284" y="1458468"/>
            <a:ext cx="242316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98280" y="1417320"/>
            <a:ext cx="242316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1417320"/>
            <a:ext cx="109728" cy="1234440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154533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進新民班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856232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70AD47"/>
                </a:solidFill>
                <a:latin typeface="Microsoft JhengHei"/>
              </a:rPr>
              <a:t>41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3134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佔求道 4%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063240"/>
            <a:ext cx="6400800" cy="2468880"/>
          </a:xfrm>
          <a:prstGeom prst="roundRect">
            <a:avLst/>
          </a:prstGeom>
          <a:solidFill>
            <a:srgbClr val="F8FBFF"/>
          </a:solidFill>
          <a:ln w="6350">
            <a:solidFill>
              <a:srgbClr val="DA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331012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2F5496"/>
                </a:solidFill>
                <a:latin typeface="Microsoft JhengHei"/>
              </a:rPr>
              <a:t>道親進班流程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76732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求道總數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39" y="3794760"/>
            <a:ext cx="4389120" cy="182880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920239" y="3794760"/>
            <a:ext cx="4389120" cy="182880"/>
          </a:xfrm>
          <a:prstGeom prst="round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3739896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1,019人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51376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可開法會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20239" y="4178808"/>
            <a:ext cx="4389120" cy="182880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920239" y="4178808"/>
            <a:ext cx="3519049" cy="182880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9088" y="412394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817人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535424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已開法會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20239" y="4562856"/>
            <a:ext cx="4389120" cy="182880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920239" y="4562856"/>
            <a:ext cx="288587" cy="182880"/>
          </a:xfrm>
          <a:prstGeom prst="roundRect">
            <a:avLst/>
          </a:prstGeom>
          <a:solidFill>
            <a:srgbClr val="4BACC6"/>
          </a:solidFill>
          <a:ln w="6350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19088" y="450799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67人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919472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進新民班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20239" y="4946904"/>
            <a:ext cx="4389120" cy="182880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920239" y="4946904"/>
            <a:ext cx="176598" cy="182880"/>
          </a:xfrm>
          <a:prstGeom prst="round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19088" y="489204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41人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20" y="3063240"/>
            <a:ext cx="4160520" cy="2468880"/>
          </a:xfrm>
          <a:prstGeom prst="roundRect">
            <a:avLst/>
          </a:prstGeom>
          <a:solidFill>
            <a:srgbClr val="DCEBF7"/>
          </a:solidFill>
          <a:ln w="6350">
            <a:solidFill>
              <a:srgbClr val="BE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35240" y="33101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2F5496"/>
                </a:solidFill>
                <a:latin typeface="Microsoft JhengHei"/>
              </a:rPr>
              <a:t>公壇・家壇・清口（北區總數）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44383" y="3886200"/>
            <a:ext cx="1481328" cy="822960"/>
          </a:xfrm>
          <a:prstGeom prst="roundRect">
            <a:avLst/>
          </a:prstGeom>
          <a:solidFill>
            <a:srgbClr val="FAFC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54111" y="3995928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🏛 公壇總數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4111" y="4270248"/>
            <a:ext cx="1261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2F5496"/>
                </a:solidFill>
                <a:latin typeface="Microsoft JhengHei"/>
              </a:rPr>
              <a:t>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3886200"/>
            <a:ext cx="1481328" cy="822960"/>
          </a:xfrm>
          <a:prstGeom prst="roundRect">
            <a:avLst/>
          </a:prstGeom>
          <a:solidFill>
            <a:srgbClr val="FAFC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42248" y="3995928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🏠 家壇總數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2248" y="4270248"/>
            <a:ext cx="1261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5B9BD5"/>
                </a:solidFill>
                <a:latin typeface="Microsoft JhengHei"/>
              </a:rPr>
              <a:t>1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20656" y="3886200"/>
            <a:ext cx="1481328" cy="822960"/>
          </a:xfrm>
          <a:prstGeom prst="roundRect">
            <a:avLst/>
          </a:prstGeom>
          <a:solidFill>
            <a:srgbClr val="FAFC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30384" y="3995928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☯ 清口總數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0384" y="4270248"/>
            <a:ext cx="1261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0AD47"/>
                </a:solidFill>
                <a:latin typeface="Microsoft JhengHei"/>
              </a:rPr>
              <a:t>4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5715000"/>
            <a:ext cx="10927080" cy="457200"/>
          </a:xfrm>
          <a:prstGeom prst="roundRect">
            <a:avLst/>
          </a:prstGeom>
          <a:solidFill>
            <a:srgbClr val="2F5496"/>
          </a:solidFill>
          <a:ln w="6350"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5806440"/>
            <a:ext cx="10378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JhengHei"/>
              </a:rPr>
              <a:t>重點：北區可開法會率約80%，法會後進入新民班比例約4%，後續可加強已開法會後的跟進與培育。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資料來源：summary.xlsx；北區公壇/家壇/清口為北1–北3彙總。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南區道親進班率分析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呈現南區總數｜不拆南1/南2/南3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365760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>
                <a:solidFill>
                  <a:srgbClr val="C55A11"/>
                </a:solidFill>
                <a:latin typeface="Microsoft JhengHei"/>
              </a:rPr>
              <a:t>核心數據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" y="1458468"/>
            <a:ext cx="256032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5603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109728" cy="1234440"/>
          </a:xfrm>
          <a:prstGeom prst="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545336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求道總數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5623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C55A11"/>
                </a:solidFill>
                <a:latin typeface="Microsoft JhengHei"/>
              </a:rPr>
              <a:t>1,271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313432"/>
            <a:ext cx="2240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南區整體求道人數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1004" y="1458468"/>
            <a:ext cx="256032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429000" y="1417320"/>
            <a:ext cx="25603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429000" y="1417320"/>
            <a:ext cx="109728" cy="1234440"/>
          </a:xfrm>
          <a:prstGeom prst="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0" y="1545336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可開法會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0" y="185623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D7D31"/>
                </a:solidFill>
                <a:latin typeface="Microsoft JhengHei"/>
              </a:rPr>
              <a:t>950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2313432"/>
            <a:ext cx="2240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佔求道 74.7%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95644" y="1458468"/>
            <a:ext cx="256032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63640" y="1417320"/>
            <a:ext cx="256032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63640" y="1417320"/>
            <a:ext cx="109728" cy="1234440"/>
          </a:xfrm>
          <a:prstGeom prst="rect">
            <a:avLst/>
          </a:prstGeom>
          <a:solidFill>
            <a:srgbClr val="E46C0A"/>
          </a:solidFill>
          <a:ln w="6350"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92240" y="1545336"/>
            <a:ext cx="2240279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已開法會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1856232"/>
            <a:ext cx="2240279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E46C0A"/>
                </a:solidFill>
                <a:latin typeface="Microsoft JhengHei"/>
              </a:rPr>
              <a:t>196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2313432"/>
            <a:ext cx="224027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佔求道 15.4%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30284" y="1458468"/>
            <a:ext cx="2423160" cy="1234440"/>
          </a:xfrm>
          <a:prstGeom prst="roundRect">
            <a:avLst/>
          </a:prstGeom>
          <a:solidFill>
            <a:srgbClr val="E1E5EB"/>
          </a:solidFill>
          <a:ln w="6350">
            <a:solidFill>
              <a:srgbClr val="E1E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98280" y="1417320"/>
            <a:ext cx="2423160" cy="12344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9098280" y="1417320"/>
            <a:ext cx="109728" cy="1234440"/>
          </a:xfrm>
          <a:prstGeom prst="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26880" y="1545336"/>
            <a:ext cx="21031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595959"/>
                </a:solidFill>
                <a:latin typeface="Microsoft JhengHei"/>
              </a:rPr>
              <a:t>進新民班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880" y="1856232"/>
            <a:ext cx="21031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70AD47"/>
                </a:solidFill>
                <a:latin typeface="Microsoft JhengHei"/>
              </a:rPr>
              <a:t>55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0" y="2313432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佔求道 4.3%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3063240"/>
            <a:ext cx="6400800" cy="2468880"/>
          </a:xfrm>
          <a:prstGeom prst="roundRect">
            <a:avLst/>
          </a:prstGeom>
          <a:solidFill>
            <a:srgbClr val="FFFAF6"/>
          </a:solidFill>
          <a:ln w="6350">
            <a:solidFill>
              <a:srgbClr val="EBD6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68680" y="3310128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50" b="1">
                <a:solidFill>
                  <a:srgbClr val="C55A11"/>
                </a:solidFill>
                <a:latin typeface="Microsoft JhengHei"/>
              </a:rPr>
              <a:t>道親進班流程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3767328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求道總數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920239" y="3794760"/>
            <a:ext cx="4389120" cy="182880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1920239" y="3794760"/>
            <a:ext cx="4389120" cy="182880"/>
          </a:xfrm>
          <a:prstGeom prst="round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19088" y="3739896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1,271人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151376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可開法會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920239" y="4178808"/>
            <a:ext cx="4389120" cy="182880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1920239" y="4178808"/>
            <a:ext cx="3280616" cy="182880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19088" y="4123944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950人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" y="4535424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已開法會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920239" y="4562856"/>
            <a:ext cx="4389120" cy="182880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1920239" y="4562856"/>
            <a:ext cx="676843" cy="182880"/>
          </a:xfrm>
          <a:prstGeom prst="roundRect">
            <a:avLst/>
          </a:prstGeom>
          <a:solidFill>
            <a:srgbClr val="E46C0A"/>
          </a:solidFill>
          <a:ln w="6350">
            <a:solidFill>
              <a:srgbClr val="E46C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19088" y="4507992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196人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" y="4919472"/>
            <a:ext cx="1143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進新民班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920239" y="4946904"/>
            <a:ext cx="4389120" cy="182880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1920239" y="4946904"/>
            <a:ext cx="189930" cy="182880"/>
          </a:xfrm>
          <a:prstGeom prst="roundRect">
            <a:avLst/>
          </a:prstGeom>
          <a:solidFill>
            <a:srgbClr val="70AD47"/>
          </a:solidFill>
          <a:ln w="6350">
            <a:solidFill>
              <a:srgbClr val="70AD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419088" y="4892040"/>
            <a:ext cx="960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55人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360920" y="3063240"/>
            <a:ext cx="4160520" cy="2468880"/>
          </a:xfrm>
          <a:prstGeom prst="roundRect">
            <a:avLst/>
          </a:prstGeom>
          <a:solidFill>
            <a:srgbClr val="FBE5D6"/>
          </a:solidFill>
          <a:ln w="6350">
            <a:solidFill>
              <a:srgbClr val="E6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635240" y="3310128"/>
            <a:ext cx="3566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C55A11"/>
                </a:solidFill>
                <a:latin typeface="Microsoft JhengHei"/>
              </a:rPr>
              <a:t>公壇・家壇・清口（南區總數）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44383" y="3886200"/>
            <a:ext cx="1481328" cy="822960"/>
          </a:xfrm>
          <a:prstGeom prst="roundRect">
            <a:avLst/>
          </a:prstGeom>
          <a:solidFill>
            <a:srgbClr val="FAFC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754111" y="3995928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🏛 公壇總數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54111" y="4270248"/>
            <a:ext cx="1261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C55A11"/>
                </a:solidFill>
                <a:latin typeface="Microsoft JhengHei"/>
              </a:rPr>
              <a:t>3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32520" y="3886200"/>
            <a:ext cx="1481328" cy="822960"/>
          </a:xfrm>
          <a:prstGeom prst="roundRect">
            <a:avLst/>
          </a:prstGeom>
          <a:solidFill>
            <a:srgbClr val="FAFC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842248" y="3995928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🏠 家壇總數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842248" y="4270248"/>
            <a:ext cx="1261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D7D31"/>
                </a:solidFill>
                <a:latin typeface="Microsoft JhengHei"/>
              </a:rPr>
              <a:t>3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820656" y="3886200"/>
            <a:ext cx="1481328" cy="822960"/>
          </a:xfrm>
          <a:prstGeom prst="roundRect">
            <a:avLst/>
          </a:prstGeom>
          <a:solidFill>
            <a:srgbClr val="FAFC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930384" y="3995928"/>
            <a:ext cx="1261872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595959"/>
                </a:solidFill>
                <a:latin typeface="Microsoft JhengHei"/>
              </a:rPr>
              <a:t>☯ 清口總數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930384" y="4270248"/>
            <a:ext cx="12618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70AD47"/>
                </a:solidFill>
                <a:latin typeface="Microsoft JhengHei"/>
              </a:rPr>
              <a:t>6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94360" y="5715000"/>
            <a:ext cx="10927080" cy="457200"/>
          </a:xfrm>
          <a:prstGeom prst="roundRect">
            <a:avLst/>
          </a:prstGeom>
          <a:solidFill>
            <a:srgbClr val="C55A11"/>
          </a:solidFill>
          <a:ln w="635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68680" y="5806440"/>
            <a:ext cx="103784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Microsoft JhengHei"/>
              </a:rPr>
              <a:t>重點：南區求道總數及已開法會人數較高，已開法會佔求道約15%，但新民班參與率仍約4%。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資料來源：summary.xlsx；南區公壇/家壇/清口為南1–南3彙總。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solidFill>
              <a:srgbClr val="F7F9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146304"/>
            <a:ext cx="89611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Microsoft JhengHei"/>
              </a:rPr>
              <a:t>北區 vs 南區 整體比較與管理總結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82880"/>
            <a:ext cx="256032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1050" b="0">
                <a:solidFill>
                  <a:srgbClr val="FFFFFF"/>
                </a:solidFill>
                <a:latin typeface="Microsoft JhengHei"/>
              </a:rPr>
              <a:t>10分鐘簡報｜結論頁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960120"/>
            <a:ext cx="5943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50" b="1">
                <a:solidFill>
                  <a:srgbClr val="1F4E79"/>
                </a:solidFill>
                <a:latin typeface="Microsoft JhengHei"/>
              </a:rPr>
              <a:t>區總數比較（不拆分小組）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3504" y="1280160"/>
            <a:ext cx="6309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595959"/>
                </a:solidFill>
                <a:latin typeface="Microsoft JhengHei"/>
              </a:rPr>
              <a:t>藍色代表北區；橙色代表南區。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91640"/>
            <a:ext cx="6446520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920240"/>
            <a:ext cx="4114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>
                <a:solidFill>
                  <a:srgbClr val="1F4E79"/>
                </a:solidFill>
                <a:latin typeface="Microsoft JhengHei"/>
              </a:rPr>
              <a:t>道親進班數據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8600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求道總數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1952" y="216712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331720" y="2212848"/>
            <a:ext cx="2971800" cy="146304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331720" y="2212848"/>
            <a:ext cx="2382583" cy="146304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13248" y="2148840"/>
            <a:ext cx="685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1,019人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01952" y="245059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31720" y="2496312"/>
            <a:ext cx="2971800" cy="146304"/>
          </a:xfrm>
          <a:prstGeom prst="roundRect">
            <a:avLst/>
          </a:prstGeom>
          <a:solidFill>
            <a:srgbClr val="F5ECE4"/>
          </a:solidFill>
          <a:ln w="6350">
            <a:solidFill>
              <a:srgbClr val="F5E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2331720" y="2496312"/>
            <a:ext cx="2971800" cy="146304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13248" y="2432304"/>
            <a:ext cx="685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1,271人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999232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可開法會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01952" y="288036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31720" y="2926079"/>
            <a:ext cx="2971800" cy="146304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331720" y="2926079"/>
            <a:ext cx="2555748" cy="146304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413248" y="2862072"/>
            <a:ext cx="685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817人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01952" y="31638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331720" y="3209544"/>
            <a:ext cx="2971800" cy="146304"/>
          </a:xfrm>
          <a:prstGeom prst="roundRect">
            <a:avLst/>
          </a:prstGeom>
          <a:solidFill>
            <a:srgbClr val="F5ECE4"/>
          </a:solidFill>
          <a:ln w="6350">
            <a:solidFill>
              <a:srgbClr val="F5E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2331720" y="3209544"/>
            <a:ext cx="2971800" cy="146304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413248" y="3145536"/>
            <a:ext cx="685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950人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3712464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已開法會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01952" y="359359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31720" y="3639312"/>
            <a:ext cx="2971800" cy="146304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2331720" y="3639312"/>
            <a:ext cx="1015870" cy="146304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413248" y="3575304"/>
            <a:ext cx="685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67人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01952" y="387705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331720" y="3922776"/>
            <a:ext cx="2971800" cy="146304"/>
          </a:xfrm>
          <a:prstGeom prst="roundRect">
            <a:avLst/>
          </a:prstGeom>
          <a:solidFill>
            <a:srgbClr val="F5ECE4"/>
          </a:solidFill>
          <a:ln w="6350">
            <a:solidFill>
              <a:srgbClr val="F5E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2331720" y="3922776"/>
            <a:ext cx="2971800" cy="146304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13248" y="3858768"/>
            <a:ext cx="685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196人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425696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進新民班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01952" y="4306824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331720" y="4352544"/>
            <a:ext cx="2971800" cy="146304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2331720" y="4352544"/>
            <a:ext cx="2215341" cy="146304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13248" y="4288536"/>
            <a:ext cx="685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41人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901952" y="459028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331720" y="4636008"/>
            <a:ext cx="2971800" cy="146304"/>
          </a:xfrm>
          <a:prstGeom prst="roundRect">
            <a:avLst/>
          </a:prstGeom>
          <a:solidFill>
            <a:srgbClr val="F5ECE4"/>
          </a:solidFill>
          <a:ln w="6350">
            <a:solidFill>
              <a:srgbClr val="F5E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2331720" y="4636008"/>
            <a:ext cx="2971800" cy="146304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13248" y="4572000"/>
            <a:ext cx="68580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55人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360920" y="1691640"/>
            <a:ext cx="4160520" cy="420624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635240" y="1920240"/>
            <a:ext cx="35661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50" b="1">
                <a:solidFill>
                  <a:srgbClr val="1F4E79"/>
                </a:solidFill>
                <a:latin typeface="Microsoft JhengHei"/>
              </a:rPr>
              <a:t>公壇・家壇・清口比較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2331720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公壇總數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13648" y="2240279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098280" y="2276856"/>
            <a:ext cx="1508760" cy="146304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ounded Rectangle 50"/>
          <p:cNvSpPr/>
          <p:nvPr/>
        </p:nvSpPr>
        <p:spPr>
          <a:xfrm>
            <a:off x="9098280" y="2276856"/>
            <a:ext cx="1508759" cy="146304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716768" y="221284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13648" y="2496312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098280" y="2532888"/>
            <a:ext cx="1508760" cy="146304"/>
          </a:xfrm>
          <a:prstGeom prst="roundRect">
            <a:avLst/>
          </a:prstGeom>
          <a:solidFill>
            <a:srgbClr val="F5ECE4"/>
          </a:solidFill>
          <a:ln w="6350">
            <a:solidFill>
              <a:srgbClr val="F5E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9098280" y="2532888"/>
            <a:ext cx="1508759" cy="146304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716768" y="2468879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635240" y="3118103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家壇總數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613648" y="3026663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98280" y="3063239"/>
            <a:ext cx="1508760" cy="146304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9098280" y="3063239"/>
            <a:ext cx="502919" cy="146304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10716768" y="2999232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13648" y="3282696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98280" y="3319272"/>
            <a:ext cx="1508760" cy="146304"/>
          </a:xfrm>
          <a:prstGeom prst="roundRect">
            <a:avLst/>
          </a:prstGeom>
          <a:solidFill>
            <a:srgbClr val="F5ECE4"/>
          </a:solidFill>
          <a:ln w="6350">
            <a:solidFill>
              <a:srgbClr val="F5E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ounded Rectangle 63"/>
          <p:cNvSpPr/>
          <p:nvPr/>
        </p:nvSpPr>
        <p:spPr>
          <a:xfrm>
            <a:off x="9098280" y="3319272"/>
            <a:ext cx="1508759" cy="146304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10716768" y="3255263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635240" y="3904488"/>
            <a:ext cx="960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1">
                <a:solidFill>
                  <a:srgbClr val="262626"/>
                </a:solidFill>
                <a:latin typeface="Microsoft JhengHei"/>
              </a:rPr>
              <a:t>清口總數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13648" y="3813048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5B9BD5"/>
                </a:solidFill>
                <a:latin typeface="Microsoft JhengHei"/>
              </a:rPr>
              <a:t>北區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98280" y="3849624"/>
            <a:ext cx="1508760" cy="146304"/>
          </a:xfrm>
          <a:prstGeom prst="roundRect">
            <a:avLst/>
          </a:prstGeom>
          <a:solidFill>
            <a:srgbClr val="EBEFF5"/>
          </a:solidFill>
          <a:ln w="6350">
            <a:solidFill>
              <a:srgbClr val="EBEF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/>
          <p:cNvSpPr/>
          <p:nvPr/>
        </p:nvSpPr>
        <p:spPr>
          <a:xfrm>
            <a:off x="9098280" y="3849624"/>
            <a:ext cx="1005839" cy="146304"/>
          </a:xfrm>
          <a:prstGeom prst="roundRect">
            <a:avLst/>
          </a:prstGeom>
          <a:solidFill>
            <a:srgbClr val="5B9BD5"/>
          </a:solidFill>
          <a:ln w="6350">
            <a:solidFill>
              <a:srgbClr val="5B9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716768" y="3785615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4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613648" y="4069080"/>
            <a:ext cx="502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ED7D31"/>
                </a:solidFill>
                <a:latin typeface="Microsoft JhengHei"/>
              </a:rPr>
              <a:t>南區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9098280" y="4105656"/>
            <a:ext cx="1508760" cy="146304"/>
          </a:xfrm>
          <a:prstGeom prst="roundRect">
            <a:avLst/>
          </a:prstGeom>
          <a:solidFill>
            <a:srgbClr val="F5ECE4"/>
          </a:solidFill>
          <a:ln w="6350">
            <a:solidFill>
              <a:srgbClr val="F5E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/>
          <p:cNvSpPr/>
          <p:nvPr/>
        </p:nvSpPr>
        <p:spPr>
          <a:xfrm>
            <a:off x="9098280" y="4105656"/>
            <a:ext cx="1508759" cy="146304"/>
          </a:xfrm>
          <a:prstGeom prst="roundRect">
            <a:avLst/>
          </a:prstGeom>
          <a:solidFill>
            <a:srgbClr val="ED7D31"/>
          </a:solidFill>
          <a:ln w="63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10716768" y="4041648"/>
            <a:ext cx="411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>
                <a:solidFill>
                  <a:srgbClr val="262626"/>
                </a:solidFill>
                <a:latin typeface="Microsoft JhengHei"/>
              </a:rPr>
              <a:t>6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594360" y="6080760"/>
            <a:ext cx="10927080" cy="384048"/>
          </a:xfrm>
          <a:prstGeom prst="roundRect">
            <a:avLst/>
          </a:prstGeom>
          <a:solidFill>
            <a:srgbClr val="1F4E79"/>
          </a:solidFill>
          <a:ln w="63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822960" y="6144768"/>
            <a:ext cx="1046988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20" b="1">
                <a:solidFill>
                  <a:srgbClr val="FFFFFF"/>
                </a:solidFill>
                <a:latin typeface="Microsoft JhengHei"/>
              </a:rPr>
              <a:t>管理總結：南區在求道總數、已開法會及清口總數較高；北區可開法會率略高。兩區新民班參與率皆約4%，建議後續加強法會後培育與新民班銜接。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2920" y="6537960"/>
            <a:ext cx="111556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595959"/>
                </a:solidFill>
                <a:latin typeface="Microsoft JhengHei"/>
              </a:rPr>
              <a:t>資料來源：summary.xlsx；北區/南區以區總數呈現，不拆分北1/北2/北3或南1/南2/南3。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2</cp:revision>
  <dcterms:created xsi:type="dcterms:W3CDTF">2013-01-27T09:14:16Z</dcterms:created>
  <dcterms:modified xsi:type="dcterms:W3CDTF">2026-07-02T13:02:00Z</dcterms:modified>
  <cp:category/>
</cp:coreProperties>
</file>