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北區｜下半年行動方案與需增開法會場次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82880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Action Plan｜25人/班計算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896112"/>
            <a:ext cx="11018520" cy="384048"/>
          </a:xfrm>
          <a:prstGeom prst="roundRect">
            <a:avLst/>
          </a:prstGeom>
          <a:solidFill>
            <a:srgbClr val="DCEBF7"/>
          </a:solidFill>
          <a:ln w="635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78408"/>
            <a:ext cx="10561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2F5496"/>
                </a:solidFill>
                <a:latin typeface="Microsoft JhengHei"/>
              </a:rPr>
              <a:t>計算假設：每一班法會按25位班員；截圖中「+單日班 / +英文法會」按額外一班計算；未標明區域的法會列為共用法會。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5496"/>
                </a:solidFill>
                <a:latin typeface="Microsoft JhengHei"/>
              </a:rPr>
              <a:t>一、目標缺口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" y="1888236"/>
            <a:ext cx="2286000" cy="987552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2286000" cy="9875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91440" cy="987552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5681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595959"/>
                </a:solidFill>
                <a:latin typeface="Microsoft JhengHei"/>
              </a:rPr>
              <a:t>求道人數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Microsoft JhengHei"/>
              </a:rPr>
              <a:t>尚欠 1,392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595959"/>
                </a:solidFill>
                <a:latin typeface="Microsoft JhengHei"/>
              </a:rPr>
              <a:t>目標 2,353｜已達 961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5244" y="1888236"/>
            <a:ext cx="2286000" cy="987552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63240" y="1847088"/>
            <a:ext cx="2286000" cy="9875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63240" y="1847088"/>
            <a:ext cx="91440" cy="987552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195681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595959"/>
                </a:solidFill>
                <a:latin typeface="Microsoft JhengHei"/>
              </a:rPr>
              <a:t>法會人數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1945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Microsoft JhengHei"/>
              </a:rPr>
              <a:t>尚欠 433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56032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595959"/>
                </a:solidFill>
                <a:latin typeface="Microsoft JhengHei"/>
              </a:rPr>
              <a:t>目標 587｜已達 154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64124" y="1888236"/>
            <a:ext cx="2286000" cy="987552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32120" y="1847088"/>
            <a:ext cx="2286000" cy="9875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32120" y="1847088"/>
            <a:ext cx="91440" cy="987552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0" y="195681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595959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1945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Microsoft JhengHei"/>
              </a:rPr>
              <a:t>尚欠 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56032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595959"/>
                </a:solidFill>
                <a:latin typeface="Microsoft JhengHei"/>
              </a:rPr>
              <a:t>目標 255｜已達 172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847088"/>
            <a:ext cx="3520440" cy="987552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1975104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595959"/>
                </a:solidFill>
                <a:latin typeface="Microsoft JhengHei"/>
              </a:rPr>
              <a:t>清口 / 家壇 / 公壇缺口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30428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2F5496"/>
                </a:solidFill>
                <a:latin typeface="Microsoft JhengHei"/>
              </a:rPr>
              <a:t>清口 23｜家壇 12｜公壇 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0906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5496"/>
                </a:solidFill>
                <a:latin typeface="Microsoft JhengHei"/>
              </a:rPr>
              <a:t>二、法會場次計算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456432"/>
            <a:ext cx="5349240" cy="1874519"/>
          </a:xfrm>
          <a:prstGeom prst="roundRect">
            <a:avLst/>
          </a:prstGeom>
          <a:solidFill>
            <a:srgbClr val="F8FBFF"/>
          </a:solidFill>
          <a:ln w="635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3675887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2F5496"/>
                </a:solidFill>
                <a:latin typeface="Microsoft JhengHei"/>
              </a:rPr>
              <a:t>北區尚欠法會人數：433人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023360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Microsoft JhengHei"/>
              </a:rPr>
              <a:t>若每班25人 → 基本需要 18 班法會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343400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80" b="0">
                <a:solidFill>
                  <a:srgbClr val="595959"/>
                </a:solidFill>
                <a:latin typeface="Microsoft JhengHei"/>
              </a:rPr>
              <a:t>目前截圖未見北區專屬法會；若可使用共用法會 8 班 = 200人容量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45152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1">
                <a:solidFill>
                  <a:srgbClr val="C00000"/>
                </a:solidFill>
                <a:latin typeface="Microsoft JhengHei"/>
              </a:rPr>
              <a:t>保守估算仍需增開：10 班法會（尚差 233人）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456432"/>
            <a:ext cx="5440680" cy="1874519"/>
          </a:xfrm>
          <a:prstGeom prst="roundRect">
            <a:avLst/>
          </a:prstGeom>
          <a:solidFill>
            <a:srgbClr val="DCEBF7"/>
          </a:solidFill>
          <a:ln w="635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19088" y="3675887"/>
            <a:ext cx="4983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2F5496"/>
                </a:solidFill>
                <a:latin typeface="Microsoft JhengHei"/>
              </a:rPr>
              <a:t>可協調共用法會（需確認名額分配）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9088" y="3977639"/>
            <a:ext cx="498348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62626"/>
                </a:solidFill>
                <a:latin typeface="Microsoft JhengHei"/>
              </a:rPr>
              <a:t>• 11–12/7 班務法會＋單日班（2班）
• 8–9/8 班務法會＋英文法會（2班）
• 23/8 淡米爾語法會（1班）
• 12–13/9 學界法會（1班）
• 19–20/12 中心法會＋英文法會（2班）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5513832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F5496"/>
                </a:solidFill>
                <a:latin typeface="Microsoft JhengHei"/>
              </a:rPr>
              <a:t>三、行動項目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824728"/>
            <a:ext cx="3611880" cy="566928"/>
          </a:xfrm>
          <a:prstGeom prst="roundRect">
            <a:avLst/>
          </a:prstGeom>
          <a:solidFill>
            <a:srgbClr val="F8FB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5934456"/>
            <a:ext cx="3282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496"/>
                </a:solidFill>
                <a:latin typeface="Microsoft JhengHei"/>
              </a:rPr>
              <a:t>求道推進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" y="6236208"/>
            <a:ext cx="3282696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62626"/>
                </a:solidFill>
                <a:latin typeface="Microsoft JhengHei"/>
              </a:rPr>
              <a:t>缺口 1392人；9/11/12月平均約 464人/月。
若大型活動貢獻1,000人，仍需 392人，約 131人/月。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0832" y="5824728"/>
            <a:ext cx="3337560" cy="566928"/>
          </a:xfrm>
          <a:prstGeom prst="roundRect">
            <a:avLst/>
          </a:prstGeom>
          <a:solidFill>
            <a:srgbClr val="F8FB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35424" y="5934456"/>
            <a:ext cx="3008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496"/>
                </a:solidFill>
                <a:latin typeface="Microsoft JhengHei"/>
              </a:rPr>
              <a:t>優先組別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35424" y="6236208"/>
            <a:ext cx="3008376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62626"/>
                </a:solidFill>
                <a:latin typeface="Microsoft JhengHei"/>
              </a:rPr>
              <a:t>北3求道缺口最大：603人。
法會缺口：北1 166、北2 167、北3 100。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82127" y="5824728"/>
            <a:ext cx="3730752" cy="566928"/>
          </a:xfrm>
          <a:prstGeom prst="roundRect">
            <a:avLst/>
          </a:prstGeom>
          <a:solidFill>
            <a:srgbClr val="F8FB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19" y="5934456"/>
            <a:ext cx="3401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F5496"/>
                </a:solidFill>
                <a:latin typeface="Microsoft JhengHei"/>
              </a:rPr>
              <a:t>法會決策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19" y="6236208"/>
            <a:ext cx="3401568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62626"/>
                </a:solidFill>
                <a:latin typeface="Microsoft JhengHei"/>
              </a:rPr>
              <a:t>至少確認共用法會名額；若共用法會容量未分配給北區，需最多 18 班。
建議先預留增開 10 班。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Microsoft JhengHei"/>
              </a:rPr>
              <a:t>資料來源：summary - progress.xlsx、summary.xlsx 及使用者提供的下半年法會排程截圖；場次計算為25人/班之規劃估算。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37160"/>
            <a:ext cx="89611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南區｜下半年行動方案與需增開法會場次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82880"/>
            <a:ext cx="23317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Action Plan｜25人/班計算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896112"/>
            <a:ext cx="11018520" cy="384048"/>
          </a:xfrm>
          <a:prstGeom prst="roundRect">
            <a:avLst/>
          </a:prstGeom>
          <a:solidFill>
            <a:srgbClr val="FBE5D6"/>
          </a:solidFill>
          <a:ln w="6350">
            <a:solidFill>
              <a:srgbClr val="E6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978408"/>
            <a:ext cx="10561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C55A11"/>
                </a:solidFill>
                <a:latin typeface="Microsoft JhengHei"/>
              </a:rPr>
              <a:t>計算假設：每一班法會按25位班員；截圖中「+英文法會」按額外一班計算；南3/南區標示者列為南區專屬法會。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48132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55A11"/>
                </a:solidFill>
                <a:latin typeface="Microsoft JhengHei"/>
              </a:rPr>
              <a:t>一、目標缺口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" y="1888236"/>
            <a:ext cx="2286000" cy="987552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94360" y="1847088"/>
            <a:ext cx="2286000" cy="9875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1847088"/>
            <a:ext cx="91440" cy="987552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95681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595959"/>
                </a:solidFill>
                <a:latin typeface="Microsoft JhengHei"/>
              </a:rPr>
              <a:t>求道人數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1945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Microsoft JhengHei"/>
              </a:rPr>
              <a:t>尚欠 1,389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595959"/>
                </a:solidFill>
                <a:latin typeface="Microsoft JhengHei"/>
              </a:rPr>
              <a:t>目標 2,660｜已達 1,271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95244" y="1888236"/>
            <a:ext cx="2286000" cy="987552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063240" y="1847088"/>
            <a:ext cx="2286000" cy="9875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63240" y="1847088"/>
            <a:ext cx="91440" cy="987552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46120" y="195681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595959"/>
                </a:solidFill>
                <a:latin typeface="Microsoft JhengHei"/>
              </a:rPr>
              <a:t>法會人數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21945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Microsoft JhengHei"/>
              </a:rPr>
              <a:t>尚欠 463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256032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595959"/>
                </a:solidFill>
                <a:latin typeface="Microsoft JhengHei"/>
              </a:rPr>
              <a:t>目標 774｜已達 311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64124" y="1888236"/>
            <a:ext cx="2286000" cy="987552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532120" y="1847088"/>
            <a:ext cx="2286000" cy="98755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532120" y="1847088"/>
            <a:ext cx="91440" cy="987552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0" y="1956816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>
                <a:solidFill>
                  <a:srgbClr val="595959"/>
                </a:solidFill>
                <a:latin typeface="Microsoft JhengHei"/>
              </a:rPr>
              <a:t>新民班人數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194560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Microsoft JhengHei"/>
              </a:rPr>
              <a:t>尚欠 130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2560320"/>
            <a:ext cx="2011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595959"/>
                </a:solidFill>
                <a:latin typeface="Microsoft JhengHei"/>
              </a:rPr>
              <a:t>目標 331｜已達 201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1847088"/>
            <a:ext cx="3520440" cy="987552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1975104"/>
            <a:ext cx="3063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595959"/>
                </a:solidFill>
                <a:latin typeface="Microsoft JhengHei"/>
              </a:rPr>
              <a:t>清口 / 家壇 / 公壇缺口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304288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20" b="1">
                <a:solidFill>
                  <a:srgbClr val="C55A11"/>
                </a:solidFill>
                <a:latin typeface="Microsoft JhengHei"/>
              </a:rPr>
              <a:t>清口 15｜家壇 18｜公壇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0906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55A11"/>
                </a:solidFill>
                <a:latin typeface="Microsoft JhengHei"/>
              </a:rPr>
              <a:t>二、法會場次計算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456432"/>
            <a:ext cx="5349240" cy="1874519"/>
          </a:xfrm>
          <a:prstGeom prst="roundRect">
            <a:avLst/>
          </a:prstGeom>
          <a:solidFill>
            <a:srgbClr val="FFFAF6"/>
          </a:solidFill>
          <a:ln w="6350">
            <a:solidFill>
              <a:srgbClr val="EB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3675887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C55A11"/>
                </a:solidFill>
                <a:latin typeface="Microsoft JhengHei"/>
              </a:rPr>
              <a:t>南區尚欠法會人數：463人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023360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Microsoft JhengHei"/>
              </a:rPr>
              <a:t>若每班25人 → 基本需要 19 班法會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343400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19" b="0">
                <a:solidFill>
                  <a:srgbClr val="595959"/>
                </a:solidFill>
                <a:latin typeface="Microsoft JhengHei"/>
              </a:rPr>
              <a:t>已列南區/南3專屬法會 5 班 = 125人容量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4645152"/>
            <a:ext cx="4800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1">
                <a:solidFill>
                  <a:srgbClr val="C00000"/>
                </a:solidFill>
                <a:latin typeface="Microsoft JhengHei"/>
              </a:rPr>
              <a:t>保守估算仍需增開：14 班法會（尚差 338人）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937760"/>
            <a:ext cx="4800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595959"/>
                </a:solidFill>
                <a:latin typeface="Microsoft JhengHei"/>
              </a:rPr>
              <a:t>樂觀情境：若共用法會也全數支援南區，仍需增開 6 班。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200" y="3456432"/>
            <a:ext cx="5440680" cy="1874519"/>
          </a:xfrm>
          <a:prstGeom prst="roundRect">
            <a:avLst/>
          </a:prstGeom>
          <a:solidFill>
            <a:srgbClr val="FBE5D6"/>
          </a:solidFill>
          <a:ln w="6350">
            <a:solidFill>
              <a:srgbClr val="E6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19088" y="3675887"/>
            <a:ext cx="4983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20" b="1">
                <a:solidFill>
                  <a:srgbClr val="C55A11"/>
                </a:solidFill>
                <a:latin typeface="Microsoft JhengHei"/>
              </a:rPr>
              <a:t>已列南區 / 南3 法會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19088" y="3977639"/>
            <a:ext cx="498348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62626"/>
                </a:solidFill>
                <a:latin typeface="Microsoft JhengHei"/>
              </a:rPr>
              <a:t>• 26/7 南3林德國語法會（1班）
• 26–27/7 南3傳德法會（1班）
• 8–9/8 南3仁德法會（1班）
• 10–11/10 南區法會（1班）
• 7–8/11 南3華德法會（1班）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513832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55A11"/>
                </a:solidFill>
                <a:latin typeface="Microsoft JhengHei"/>
              </a:rPr>
              <a:t>三、行動項目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5824728"/>
            <a:ext cx="3611880" cy="566928"/>
          </a:xfrm>
          <a:prstGeom prst="roundRect">
            <a:avLst/>
          </a:prstGeom>
          <a:solidFill>
            <a:srgbClr val="FFFAF6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58952" y="5934456"/>
            <a:ext cx="32826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5A11"/>
                </a:solidFill>
                <a:latin typeface="Microsoft JhengHei"/>
              </a:rPr>
              <a:t>求道推進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" y="6236208"/>
            <a:ext cx="3282696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62626"/>
                </a:solidFill>
                <a:latin typeface="Microsoft JhengHei"/>
              </a:rPr>
              <a:t>缺口 1389人；9/11/12月平均約 463人/月。
若大型活動貢獻1,000人，仍需 389人，約 130人/月。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70832" y="5824728"/>
            <a:ext cx="3337560" cy="566928"/>
          </a:xfrm>
          <a:prstGeom prst="roundRect">
            <a:avLst/>
          </a:prstGeom>
          <a:solidFill>
            <a:srgbClr val="FFFAF6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35424" y="5934456"/>
            <a:ext cx="300837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5A11"/>
                </a:solidFill>
                <a:latin typeface="Microsoft JhengHei"/>
              </a:rPr>
              <a:t>優先組別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5424" y="6236208"/>
            <a:ext cx="3008376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62626"/>
                </a:solidFill>
                <a:latin typeface="Microsoft JhengHei"/>
              </a:rPr>
              <a:t>南1求道缺口最大：526人。
法會缺口：南1 139、南2 201、南3 123。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82127" y="5824728"/>
            <a:ext cx="3730752" cy="566928"/>
          </a:xfrm>
          <a:prstGeom prst="roundRect">
            <a:avLst/>
          </a:prstGeom>
          <a:solidFill>
            <a:srgbClr val="FFFAF6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46719" y="5934456"/>
            <a:ext cx="340156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55A11"/>
                </a:solidFill>
                <a:latin typeface="Microsoft JhengHei"/>
              </a:rPr>
              <a:t>法會決策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19" y="6236208"/>
            <a:ext cx="3401568" cy="182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40" b="0">
                <a:solidFill>
                  <a:srgbClr val="262626"/>
                </a:solidFill>
                <a:latin typeface="Microsoft JhengHei"/>
              </a:rPr>
              <a:t>南區專屬容量不足，保守需增開 14 班。
公壇目前0/3，需同步納入追蹤。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595959"/>
                </a:solidFill>
                <a:latin typeface="Microsoft JhengHei"/>
              </a:rPr>
              <a:t>資料來源：summary - progress.xlsx、summary.xlsx 及使用者提供的下半年法會排程截圖；場次計算為25人/班之規劃估算。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69bf4a9-87bd-4dbf-a36c-1db5158e5def}" enabled="1" method="Privileged" siteId="{ea80952e-a476-42d4-aaf4-5457852b0f7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</cp:revision>
  <dcterms:created xsi:type="dcterms:W3CDTF">2013-01-27T09:14:16Z</dcterms:created>
  <dcterms:modified xsi:type="dcterms:W3CDTF">2026-07-02T17:02:43Z</dcterms:modified>
  <cp:category/>
</cp:coreProperties>
</file>