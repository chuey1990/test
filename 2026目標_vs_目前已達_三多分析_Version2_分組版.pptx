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2026年目標 vs 目前已達：全道場總覽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巴生道務中心｜三多分析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整體進度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JhengHei"/>
              </a:rPr>
              <a:t>以年度目標作為基準，呈現目前已達、達成率與剩餘差距。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796795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55648"/>
            <a:ext cx="109728" cy="1234440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57984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2,232 / 5,013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0320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560320"/>
            <a:ext cx="1017824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2491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達成率：45%   差距：-2,781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9604" y="1796795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57600" y="1755648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1755648"/>
            <a:ext cx="109728" cy="123444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18745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157984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BD5"/>
                </a:solidFill>
                <a:latin typeface="Microsoft JhengHei"/>
              </a:rPr>
              <a:t>466 / 1,361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2560320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86200" y="2560320"/>
            <a:ext cx="782715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272491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達成率：34%   差距：-895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52844" y="1796795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20840" y="1755648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0840" y="1755648"/>
            <a:ext cx="109728" cy="123444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18745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新民人數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57984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JhengHei"/>
              </a:rPr>
              <a:t>373 / 586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560320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49440" y="2560320"/>
            <a:ext cx="1455081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272491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達成率：64%   差距：-213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" y="3378708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4360" y="3337560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33756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45643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清口人數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739896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19 / 57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142232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" y="4142232"/>
            <a:ext cx="761999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30682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達成率：33%   差距：-38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89604" y="3378708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57600" y="3337560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0" y="333756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345643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家壇數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739896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8 / 38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86200" y="4142232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886200" y="4142232"/>
            <a:ext cx="481263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86200" y="430682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達成率：21%   差距：-30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52844" y="3378708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720840" y="3337560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720840" y="333756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49440" y="345643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公壇數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3739896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1 /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49440" y="4142232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949440" y="4142232"/>
            <a:ext cx="380999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49440" y="430682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達成率：17%   差距：-5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92640" y="1234440"/>
            <a:ext cx="1993392" cy="4480560"/>
          </a:xfrm>
          <a:prstGeom prst="round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21240" y="1508760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重點觀察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2011680"/>
            <a:ext cx="1600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</a:rPr>
              <a:t>• 求道目前達成約45%
• 法會目前達成約34%
• 新民目前達成約64%
• 公壇、家壇、清口仍有較大差距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progress.xlsx；目標 vs 目前已達。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北區：2026目標 vs 目前已達（北1 / 北2 / 北3）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Version 2｜藍色主題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F5496"/>
                </a:solidFill>
                <a:latin typeface="Microsoft JhengHei"/>
              </a:rPr>
              <a:t>北區各組目標達成狀況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749807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本頁按北1、北2、北3呈現；每組顯示求道、法會、新民班，以及清口/家壇/公壇目前已達與目標。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705356"/>
            <a:ext cx="3063240" cy="3977639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3063240" cy="39776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64208"/>
            <a:ext cx="3063240" cy="384048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880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北1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8600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3352" y="2322576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73352" y="2322576"/>
            <a:ext cx="524716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52928" y="2258568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329/688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2468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48%｜差距 -359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862072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3352" y="2898648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73352" y="2898648"/>
            <a:ext cx="213064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52928" y="283464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40/206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0449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19%｜差距 -166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43814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73352" y="3474720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3474720"/>
            <a:ext cx="623717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8" y="341071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54/95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362102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57%｜差距 -41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453128"/>
            <a:ext cx="2734056" cy="950976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590288"/>
            <a:ext cx="2606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595959"/>
                </a:solidFill>
                <a:latin typeface="Microsoft JhengHei"/>
              </a:rPr>
              <a:t>清口 / 家壇 / 公壇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清口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2/9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家壇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9072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1/5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32888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公壇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0/1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92524" y="1705356"/>
            <a:ext cx="3063240" cy="3977639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160520" y="1664208"/>
            <a:ext cx="3063240" cy="39776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1664208"/>
            <a:ext cx="3063240" cy="384048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51959" y="1737360"/>
            <a:ext cx="2880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北2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228600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9512" y="2322576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239512" y="2322576"/>
            <a:ext cx="467332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9088" y="2258568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319/749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9512" y="2468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43%｜差距 -430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2862072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39512" y="2898648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239512" y="2898648"/>
            <a:ext cx="185609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19088" y="283464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34/201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9512" y="30449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17%｜差距 -167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343814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39512" y="3474720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239512" y="3474720"/>
            <a:ext cx="793214" cy="118872"/>
          </a:xfrm>
          <a:prstGeom prst="round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19088" y="341071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60/83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362102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72%｜差距 -23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5112" y="4453128"/>
            <a:ext cx="2734056" cy="950976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89120" y="4590288"/>
            <a:ext cx="2606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595959"/>
                </a:solidFill>
                <a:latin typeface="Microsoft JhengHei"/>
              </a:rPr>
              <a:t>清口 / 家壇 / 公壇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1416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清口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71416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3/9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5231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家壇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5231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1/5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9048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公壇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9048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1/1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58683" y="1705356"/>
            <a:ext cx="3063240" cy="3977639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726679" y="1664208"/>
            <a:ext cx="3063240" cy="39776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726679" y="1664208"/>
            <a:ext cx="3063240" cy="384048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18119" y="1737360"/>
            <a:ext cx="2880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北3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7848" y="228600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05672" y="2322576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8805672" y="2322576"/>
            <a:ext cx="374943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85247" y="2258568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313/916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05672" y="2468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34%｜差距 -603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27848" y="2862072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05672" y="2898648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805672" y="2898648"/>
            <a:ext cx="48768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85247" y="283464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80/180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5672" y="30449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44%｜差距 -100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7848" y="343814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05672" y="3474720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805672" y="3474720"/>
            <a:ext cx="826522" cy="118872"/>
          </a:xfrm>
          <a:prstGeom prst="round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985247" y="341071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58/77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05672" y="362102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75%｜差距 -19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91271" y="4453128"/>
            <a:ext cx="2734056" cy="950976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955279" y="4590288"/>
            <a:ext cx="2606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595959"/>
                </a:solidFill>
                <a:latin typeface="Microsoft JhengHei"/>
              </a:rPr>
              <a:t>清口 / 家壇 / 公壇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37575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清口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37575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2/12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51392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家壇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51392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1/5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65207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公壇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65207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2F5496"/>
                </a:solidFill>
                <a:latin typeface="Microsoft JhengHei"/>
              </a:rPr>
              <a:t>0/1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4360" y="5870448"/>
            <a:ext cx="10927080" cy="411480"/>
          </a:xfrm>
          <a:prstGeom prst="round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5943600"/>
            <a:ext cx="10561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JhengHei"/>
              </a:rPr>
              <a:t>北區重點：北3法會與新民班進度相對突出；北2新民班達成率最高；北3求道人數目標差距最大，後續可優先加強求道推進。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progress.xlsx；北區按北1/北2/北3呈現。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南區：2026目標 vs 目前已達（南1 / 南2 / 南3）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Version 2｜橙色主題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C55A11"/>
                </a:solidFill>
                <a:latin typeface="Microsoft JhengHei"/>
              </a:rPr>
              <a:t>南區各組目標達成狀況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749807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本頁按南1、南2、南3呈現；每組顯示求道、法會、新民班，以及清口/家壇/公壇目前已達與目標。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705356"/>
            <a:ext cx="3063240" cy="3977639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3063240" cy="39776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64208"/>
            <a:ext cx="3063240" cy="384048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880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南1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8600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3352" y="2322576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73352" y="2322576"/>
            <a:ext cx="428485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52928" y="2258568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337/863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2468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39%｜差距 -526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862072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3352" y="2898648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73352" y="2898648"/>
            <a:ext cx="512904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52928" y="283464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122/261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0449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47%｜差距 -139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43814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73352" y="3474720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3474720"/>
            <a:ext cx="602047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8" y="341071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62/113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362102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55%｜差距 -51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453128"/>
            <a:ext cx="2734056" cy="950976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F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590288"/>
            <a:ext cx="2606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595959"/>
                </a:solidFill>
                <a:latin typeface="Microsoft JhengHei"/>
              </a:rPr>
              <a:t>清口 / 家壇 / 公壇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清口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6/9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家壇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9072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2/8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32888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公壇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0/1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92524" y="1705356"/>
            <a:ext cx="3063240" cy="3977639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160520" y="1664208"/>
            <a:ext cx="3063240" cy="39776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1664208"/>
            <a:ext cx="3063240" cy="384048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51959" y="1737360"/>
            <a:ext cx="2880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南2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228600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9512" y="2322576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239512" y="2322576"/>
            <a:ext cx="580710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9088" y="2258568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507/958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9512" y="2468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53%｜差距 -451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2862072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39512" y="2898648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239512" y="2898648"/>
            <a:ext cx="394881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19088" y="283464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113/314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9512" y="30449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36%｜差距 -201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343814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39512" y="3474720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239512" y="3474720"/>
            <a:ext cx="640080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19088" y="341071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63/108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362102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58%｜差距 -45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5112" y="4453128"/>
            <a:ext cx="2734056" cy="950976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F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89120" y="4590288"/>
            <a:ext cx="2606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595959"/>
                </a:solidFill>
                <a:latin typeface="Microsoft JhengHei"/>
              </a:rPr>
              <a:t>清口 / 家壇 / 公壇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1416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清口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71416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5/9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5231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家壇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5231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2/7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9048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公壇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9048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0/1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58683" y="1705356"/>
            <a:ext cx="3063240" cy="3977639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726679" y="1664208"/>
            <a:ext cx="3063240" cy="397763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726679" y="1664208"/>
            <a:ext cx="3063240" cy="384048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18119" y="1737360"/>
            <a:ext cx="2880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南3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7848" y="228600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05672" y="2322576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8805672" y="2322576"/>
            <a:ext cx="558448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85247" y="2258568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427/839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05672" y="24688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51%｜差距 -412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27848" y="2862072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05672" y="2898648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805672" y="2898648"/>
            <a:ext cx="419061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85247" y="2834640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76/199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5672" y="304495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38%｜差距 -123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7848" y="343814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05672" y="3474720"/>
            <a:ext cx="109728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805672" y="3474720"/>
            <a:ext cx="758120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985247" y="3410712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40" b="1">
                <a:solidFill>
                  <a:srgbClr val="262626"/>
                </a:solidFill>
                <a:latin typeface="Microsoft JhengHei"/>
              </a:rPr>
              <a:t>76/110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05672" y="362102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icrosoft JhengHei"/>
              </a:rPr>
              <a:t>達成率 69%｜差距 -34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91271" y="4453128"/>
            <a:ext cx="2734056" cy="950976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F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955279" y="4590288"/>
            <a:ext cx="2606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595959"/>
                </a:solidFill>
                <a:latin typeface="Microsoft JhengHei"/>
              </a:rPr>
              <a:t>清口 / 家壇 / 公壇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37575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清口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37575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1/9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51392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家壇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51392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1/8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65207" y="4837176"/>
            <a:ext cx="783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95959"/>
                </a:solidFill>
                <a:latin typeface="Microsoft JhengHei"/>
              </a:rPr>
              <a:t>公壇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65207" y="5065776"/>
            <a:ext cx="783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1">
                <a:solidFill>
                  <a:srgbClr val="C55A11"/>
                </a:solidFill>
                <a:latin typeface="Microsoft JhengHei"/>
              </a:rPr>
              <a:t>0/1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4360" y="5870448"/>
            <a:ext cx="10927080" cy="411480"/>
          </a:xfrm>
          <a:prstGeom prst="round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5943600"/>
            <a:ext cx="10561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JhengHei"/>
              </a:rPr>
              <a:t>南區重點：南2求道人數目前最高；南1法會目前已達最高；南3新民班達成率相對較高；公壇目前三組皆未達成。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progress.xlsx；南區按南1/南2/南3呈現。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 vs 南區：目標達成比較與後續關注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結論頁｜Target vs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1F4E79"/>
                </a:solidFill>
                <a:latin typeface="Microsoft JhengHei"/>
              </a:rPr>
              <a:t>區總數比較：目前已達 / 2026目標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309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藍色代表北區；橙色代表南區。橫條越長代表目前完成比例越高。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658368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Microsoft JhengHei"/>
              </a:rPr>
              <a:t>三多主指標比較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97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9514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331720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86000" y="2331720"/>
            <a:ext cx="958023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6632" y="2267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961/2,353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6946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60604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86000" y="2606040"/>
            <a:ext cx="1267062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6632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1,271/2,660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1985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552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29183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86000" y="3291839"/>
            <a:ext cx="527611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56632" y="32278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154/587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5295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56616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286000" y="3566160"/>
            <a:ext cx="1065500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56632" y="3502151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311/774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799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21538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425195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86000" y="4251959"/>
            <a:ext cx="1377953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56632" y="418795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172/255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48970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4526279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286000" y="4526279"/>
            <a:ext cx="1610283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56632" y="44622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201/331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1691640"/>
            <a:ext cx="3977639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26679" y="1920240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F4E79"/>
                </a:solidFill>
                <a:latin typeface="Microsoft JhengHei"/>
              </a:rPr>
              <a:t>清口 / 家壇 / 公壇比較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4597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清口人數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29514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2331720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052560" y="2331720"/>
            <a:ext cx="618744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23192" y="2267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7/30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256946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260604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052560" y="2606040"/>
            <a:ext cx="1060704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823192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12/27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41985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家壇數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32552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329183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052560" y="3291839"/>
            <a:ext cx="345881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23192" y="32278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3/15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35295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356616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052560" y="3566160"/>
            <a:ext cx="576469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823192" y="3502151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5/23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3799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公壇數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1538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425195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052560" y="4251959"/>
            <a:ext cx="883920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823192" y="418795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1/3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448970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560" y="4526279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052560" y="4526279"/>
            <a:ext cx="36576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823192" y="44622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0/3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6144768"/>
            <a:ext cx="10835640" cy="365760"/>
          </a:xfrm>
          <a:prstGeom prst="round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960" y="6217920"/>
            <a:ext cx="10378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JhengHei"/>
              </a:rPr>
              <a:t>管理總結：北區與南區皆有目標缺口；北區新民班相對較接近目標，南區求道與法會目前數量較高；後續建議聚焦法會推進、清口、家壇與公壇累積。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progress.xlsx；目標 vs 目前已達。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2026-07-02T16:45:46Z</dcterms:modified>
  <cp:category/>
</cp:coreProperties>
</file>