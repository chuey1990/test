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869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2026年目標 vs 目前已達：全道場總覽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8288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巴生道務中心｜三多分析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整體進度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JhengHei"/>
              </a:rPr>
              <a:t>以年度目標作為基準，呈現目前已達、達成率與剩餘差距。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" y="1796795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55648"/>
            <a:ext cx="109728" cy="1234440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求道人數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57984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2,232 / 5,013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60320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560320"/>
            <a:ext cx="1017824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724912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達成率：45%   差距：-2,781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89604" y="1796795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57600" y="1755648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0" y="1755648"/>
            <a:ext cx="109728" cy="123444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86200" y="187451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法會人數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157984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9BD5"/>
                </a:solidFill>
                <a:latin typeface="Microsoft JhengHei"/>
              </a:rPr>
              <a:t>466 / 1,361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2560320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886200" y="2560320"/>
            <a:ext cx="782715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2724912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達成率：34%   差距：-895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52844" y="1796795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20840" y="1755648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20840" y="1755648"/>
            <a:ext cx="109728" cy="1234440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1874519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新民人數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57984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Microsoft JhengHei"/>
              </a:rPr>
              <a:t>373 / 586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2560320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949440" y="2560320"/>
            <a:ext cx="1455081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0" y="2724912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達成率：64%   差距：-213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" y="3378708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94360" y="3337560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3337560"/>
            <a:ext cx="109728" cy="1234440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456432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清口人數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739896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Microsoft JhengHei"/>
              </a:rPr>
              <a:t>19 / 57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142232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960" y="4142232"/>
            <a:ext cx="761999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4306824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達成率：33%   差距：-38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89604" y="3378708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657600" y="3337560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0" y="3337560"/>
            <a:ext cx="109728" cy="1234440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86200" y="3456432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家壇數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739896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Microsoft JhengHei"/>
              </a:rPr>
              <a:t>8 / 38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86200" y="4142232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886200" y="4142232"/>
            <a:ext cx="481263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86200" y="4306824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達成率：21%   差距：-30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52844" y="3378708"/>
            <a:ext cx="274320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720840" y="3337560"/>
            <a:ext cx="274320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720840" y="3337560"/>
            <a:ext cx="109728" cy="1234440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49440" y="3456432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公壇數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3739896"/>
            <a:ext cx="24231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Microsoft JhengHei"/>
              </a:rPr>
              <a:t>1 / 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49440" y="4142232"/>
            <a:ext cx="22860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949440" y="4142232"/>
            <a:ext cx="380999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949440" y="4306824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達成率：17%   差距：-5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92640" y="1234440"/>
            <a:ext cx="1993392" cy="4480560"/>
          </a:xfrm>
          <a:prstGeom prst="round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21240" y="1508760"/>
            <a:ext cx="15727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重點觀察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2011680"/>
            <a:ext cx="16002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</a:rPr>
              <a:t>• 求道目前達成約45%
• 法會目前達成約34%
• 新民目前達成約64%
• 公壇、家壇、清口仍有較大差距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 - progress.xlsx；目標 vs 目前已達。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869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北區：2026目標 vs 目前已達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8288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沿用藍色主題｜區總數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F5496"/>
                </a:solidFill>
                <a:latin typeface="Microsoft JhengHei"/>
              </a:rPr>
              <a:t>北區目標達成狀況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6583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JhengHei"/>
              </a:rPr>
              <a:t>保留區總數呈現，不拆北1 / 北2 / 北3。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" y="1778507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109728" cy="1207008"/>
          </a:xfrm>
          <a:prstGeom prst="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求道人數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396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5496"/>
                </a:solidFill>
                <a:latin typeface="Microsoft JhengHei"/>
              </a:rPr>
              <a:t>961 / 2,353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420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542032"/>
            <a:ext cx="840272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7066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達成率：41%   差距：-1,392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1004" y="1778507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29000" y="17373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29000" y="1737360"/>
            <a:ext cx="109728" cy="1207008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185623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法會人數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1396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9BD5"/>
                </a:solidFill>
                <a:latin typeface="Microsoft JhengHei"/>
              </a:rPr>
              <a:t>154 / 587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5420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657600" y="2542032"/>
            <a:ext cx="539760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0" y="27066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達成率：26%   差距：-433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5644" y="1778507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63640" y="17373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1737360"/>
            <a:ext cx="109728" cy="1207008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185623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1396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Microsoft JhengHei"/>
              </a:rPr>
              <a:t>172 / 255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5420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92240" y="2542032"/>
            <a:ext cx="1387736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7066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達成率：67%   差距：-83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" y="3378708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94360" y="33375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3337560"/>
            <a:ext cx="109728" cy="1207008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4564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清口人數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7398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9BD5"/>
                </a:solidFill>
                <a:latin typeface="Microsoft JhengHei"/>
              </a:rPr>
              <a:t>7 / 30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1422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960" y="4142232"/>
            <a:ext cx="480060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43068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達成率：23%   差距：-23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61004" y="3378708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429000" y="33375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429000" y="3337560"/>
            <a:ext cx="109728" cy="1207008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0" y="34564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家壇數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7398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9BD5"/>
                </a:solidFill>
                <a:latin typeface="Microsoft JhengHei"/>
              </a:rPr>
              <a:t>3 / 15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41422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657600" y="4142232"/>
            <a:ext cx="411480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0" y="43068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達成率：20%   差距：-12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5644" y="3378708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263640" y="33375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63640" y="3337560"/>
            <a:ext cx="109728" cy="1207008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34564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公壇數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37398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9BD5"/>
                </a:solidFill>
                <a:latin typeface="Microsoft JhengHei"/>
              </a:rPr>
              <a:t>1 / 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41422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492240" y="4142232"/>
            <a:ext cx="685800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0" y="43068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達成率：33%   差距：-2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0" y="1737360"/>
            <a:ext cx="2331720" cy="2816352"/>
          </a:xfrm>
          <a:prstGeom prst="roundRect">
            <a:avLst/>
          </a:prstGeom>
          <a:solidFill>
            <a:srgbClr val="DCEBF7"/>
          </a:solidFill>
          <a:ln w="6350"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72600" y="1965960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5496"/>
                </a:solidFill>
                <a:latin typeface="Microsoft JhengHei"/>
              </a:rPr>
              <a:t>北區結論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0032" y="2423160"/>
            <a:ext cx="1828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icrosoft JhengHei"/>
              </a:rPr>
              <a:t>• 新民班達成率相對較高
• 求道與法會仍需補足差距
• 家壇、清口需持續推進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5852160"/>
            <a:ext cx="10881360" cy="411480"/>
          </a:xfrm>
          <a:prstGeom prst="round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7240" y="5934456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JhengHei"/>
              </a:rPr>
              <a:t>講解重點：北區的求道、法會與新民班皆未達全年目標；新民班進度相對較接近目標，但清口與家壇仍需加強。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 - progress.xlsx；北區以合計數呈現。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869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南區：2026目標 vs 目前已達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8288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沿用橙色主題｜區總數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C55A11"/>
                </a:solidFill>
                <a:latin typeface="Microsoft JhengHei"/>
              </a:rPr>
              <a:t>南區目標達成狀況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6583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Microsoft JhengHei"/>
              </a:rPr>
              <a:t>保留區總數呈現，不拆南1 / 南2 / 南3。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" y="1778507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109728" cy="1207008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求道人數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396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Microsoft JhengHei"/>
              </a:rPr>
              <a:t>1,271 / 2,660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420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542032"/>
            <a:ext cx="983065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7066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達成率：48%   差距：-1,389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1004" y="1778507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29000" y="17373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29000" y="1737360"/>
            <a:ext cx="109728" cy="1207008"/>
          </a:xfrm>
          <a:prstGeom prst="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185623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法會人數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1396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Microsoft JhengHei"/>
              </a:rPr>
              <a:t>311 / 774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5420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657600" y="2542032"/>
            <a:ext cx="826681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0" y="27066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達成率：40%   差距：-463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5644" y="1778507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63640" y="17373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1737360"/>
            <a:ext cx="109728" cy="1207008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1856231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1396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0AD47"/>
                </a:solidFill>
                <a:latin typeface="Microsoft JhengHei"/>
              </a:rPr>
              <a:t>201 / 331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5420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92240" y="2542032"/>
            <a:ext cx="1249357" cy="118872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7066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達成率：61%   差距：-130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" y="3378708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94360" y="33375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3337560"/>
            <a:ext cx="109728" cy="1207008"/>
          </a:xfrm>
          <a:prstGeom prst="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4564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清口人數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7398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Microsoft JhengHei"/>
              </a:rPr>
              <a:t>12 / 27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1422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960" y="4142232"/>
            <a:ext cx="914400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43068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達成率：44%   差距：-15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61004" y="3378708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429000" y="33375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429000" y="3337560"/>
            <a:ext cx="109728" cy="1207008"/>
          </a:xfrm>
          <a:prstGeom prst="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0" y="34564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家壇數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7398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Microsoft JhengHei"/>
              </a:rPr>
              <a:t>5 / 23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41422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657600" y="4142232"/>
            <a:ext cx="447260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0" y="43068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達成率：22%   差距：-18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5644" y="3378708"/>
            <a:ext cx="2514600" cy="1207008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263640" y="3337560"/>
            <a:ext cx="2514600" cy="12070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63640" y="3337560"/>
            <a:ext cx="109728" cy="1207008"/>
          </a:xfrm>
          <a:prstGeom prst="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34564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95959"/>
                </a:solidFill>
                <a:latin typeface="Microsoft JhengHei"/>
              </a:rPr>
              <a:t>公壇數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3739896"/>
            <a:ext cx="2194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Microsoft JhengHei"/>
              </a:rPr>
              <a:t>0 / 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4142232"/>
            <a:ext cx="2057400" cy="118872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492240" y="4142232"/>
            <a:ext cx="27432" cy="118872"/>
          </a:xfrm>
          <a:prstGeom prst="round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0" y="430682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Microsoft JhengHei"/>
              </a:rPr>
              <a:t>達成率：0%   差距：-3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0" y="1737360"/>
            <a:ext cx="2331720" cy="2816352"/>
          </a:xfrm>
          <a:prstGeom prst="roundRect">
            <a:avLst/>
          </a:prstGeom>
          <a:solidFill>
            <a:srgbClr val="FBE5D6"/>
          </a:solidFill>
          <a:ln w="6350">
            <a:solidFill>
              <a:srgbClr val="E6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72600" y="1965960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55A11"/>
                </a:solidFill>
                <a:latin typeface="Microsoft JhengHei"/>
              </a:rPr>
              <a:t>南區結論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0032" y="2423160"/>
            <a:ext cx="18288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2626"/>
                </a:solidFill>
                <a:latin typeface="Microsoft JhengHei"/>
              </a:rPr>
              <a:t>• 求道目前已達1,271人
• 法會目前已達311人
• 公壇目前尚未達成
• 清口與家壇仍需追蹤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5852160"/>
            <a:ext cx="10881360" cy="411480"/>
          </a:xfrm>
          <a:prstGeom prst="round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7240" y="5934456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JhengHei"/>
              </a:rPr>
              <a:t>講解重點：南區求道與法會目前數量較高；但距離年度目標仍有缺口，尤其公壇目前為0，需要列為後續推進重點。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 - progress.xlsx；南區以合計數呈現。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869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北區 vs 南區：目標達成比較與後續關注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82880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結論頁｜Target vs 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1F4E79"/>
                </a:solidFill>
                <a:latin typeface="Microsoft JhengHei"/>
              </a:rPr>
              <a:t>區總數比較：目前已達 / 2026目標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6309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藍色代表北區；橙色代表南區。橫條越長代表目前完成比例越高。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6583680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F4E79"/>
                </a:solidFill>
                <a:latin typeface="Microsoft JhengHei"/>
              </a:rPr>
              <a:t>三多主指標比較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597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求道人數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29514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331720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86000" y="2331720"/>
            <a:ext cx="958023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56632" y="22677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961/2,353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56946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606040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286000" y="2606040"/>
            <a:ext cx="1267062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56632" y="25420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1,271/2,660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1985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法會人數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25526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291839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286000" y="3291839"/>
            <a:ext cx="527611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56632" y="32278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154/587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5295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566160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286000" y="3566160"/>
            <a:ext cx="1065500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56632" y="3502151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311/774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37997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21538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4251959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286000" y="4251959"/>
            <a:ext cx="1377953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56632" y="418795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172/255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48970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4526279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286000" y="4526279"/>
            <a:ext cx="1610283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56632" y="446227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201/331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1691640"/>
            <a:ext cx="3977639" cy="4297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26679" y="1920240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F4E79"/>
                </a:solidFill>
                <a:latin typeface="Microsoft JhengHei"/>
              </a:rPr>
              <a:t>清口 / 家壇 / 公壇比較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45973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清口人數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29514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2331720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052560" y="2331720"/>
            <a:ext cx="618744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823192" y="22677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7/30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256946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2606040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052560" y="2606040"/>
            <a:ext cx="1060704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823192" y="25420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12/27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41985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家壇數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325526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52560" y="3291839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052560" y="3291839"/>
            <a:ext cx="345881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23192" y="32278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3/15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35295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560" y="3566160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052560" y="3566160"/>
            <a:ext cx="576469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823192" y="3502151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5/23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37997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公壇數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21538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2560" y="4251959"/>
            <a:ext cx="2651760" cy="128016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052560" y="4251959"/>
            <a:ext cx="883920" cy="128016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823192" y="418795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1/3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1080" y="448970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52560" y="4526279"/>
            <a:ext cx="2651760" cy="128016"/>
          </a:xfrm>
          <a:prstGeom prst="roundRect">
            <a:avLst/>
          </a:prstGeom>
          <a:solidFill>
            <a:srgbClr val="F6EDE3"/>
          </a:solidFill>
          <a:ln w="6350">
            <a:solidFill>
              <a:srgbClr val="F6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9052560" y="4526279"/>
            <a:ext cx="36576" cy="128016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823192" y="446227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62626"/>
                </a:solidFill>
                <a:latin typeface="Microsoft JhengHei"/>
              </a:rPr>
              <a:t>0/3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6144768"/>
            <a:ext cx="10835640" cy="365760"/>
          </a:xfrm>
          <a:prstGeom prst="round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2960" y="6217920"/>
            <a:ext cx="10378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icrosoft JhengHei"/>
              </a:rPr>
              <a:t>管理總結：北區與南區皆有目標缺口；北區新民班相對較接近目標，南區求道與法會目前數量較高；後續建議聚焦法會推進、清口、家壇與公壇累積。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 - progress.xlsx；目標 vs 目前已達。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69bf4a9-87bd-4dbf-a36c-1db5158e5def}" enabled="1" method="Privileged" siteId="{ea80952e-a476-42d4-aaf4-5457852b0f7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2026-07-02T16:45:37Z</dcterms:modified>
  <cp:category/>
</cp:coreProperties>
</file>