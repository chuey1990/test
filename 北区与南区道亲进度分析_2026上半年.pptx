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685800"/>
            <a:ext cx="1097280" cy="1097280"/>
          </a:xfrm>
          <a:prstGeom prst="ellipse">
            <a:avLst/>
          </a:prstGeom>
          <a:solidFill>
            <a:srgbClr val="365E91"/>
          </a:solidFill>
          <a:ln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971800" y="5257800"/>
            <a:ext cx="1417320" cy="1417320"/>
          </a:xfrm>
          <a:prstGeom prst="ellipse">
            <a:avLst/>
          </a:prstGeom>
          <a:solidFill>
            <a:srgbClr val="234A7A"/>
          </a:solidFill>
          <a:ln>
            <a:solidFill>
              <a:srgbClr val="23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31720" y="1783080"/>
            <a:ext cx="621792" cy="621792"/>
          </a:xfrm>
          <a:prstGeom prst="ellipse">
            <a:avLst/>
          </a:prstGeom>
          <a:solidFill>
            <a:srgbClr val="4584C5"/>
          </a:solidFill>
          <a:ln>
            <a:solidFill>
              <a:srgbClr val="458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2E6FA"/>
                </a:solidFill>
                <a:latin typeface="Microsoft YaHei"/>
              </a:rPr>
              <a:t>2026年上半年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北区与南区</a:t>
            </a:r>
            <a:br/>
            <a:r>
              <a:t>道亲进度分析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6EBF4"/>
                </a:solidFill>
                <a:latin typeface="Microsoft YaHei"/>
              </a:rPr>
              <a:t>统计期间：2026/01/01–2026/06/30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143000"/>
            <a:ext cx="6537960" cy="4434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1417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153"/>
                </a:solidFill>
                <a:latin typeface="Microsoft YaHei"/>
              </a:rPr>
              <a:t>汇报重点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057400"/>
            <a:ext cx="384048" cy="38404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09397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039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831"/>
                </a:solidFill>
                <a:latin typeface="Microsoft YaHei"/>
              </a:rPr>
              <a:t>南区求道总数较高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3408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1,271人 vs 北区1,019人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770632"/>
            <a:ext cx="384048" cy="38404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280720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75234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831"/>
                </a:solidFill>
                <a:latin typeface="Microsoft YaHei"/>
              </a:rPr>
              <a:t>北区可开法会率领先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054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80% vs 南区75%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483864"/>
            <a:ext cx="384048" cy="38404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35204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4655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831"/>
                </a:solidFill>
                <a:latin typeface="Microsoft YaHei"/>
              </a:rPr>
              <a:t>南区已开法会人数明显较高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767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196人 vs 北区67人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197096"/>
            <a:ext cx="384048" cy="38404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0" y="423367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41788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831"/>
                </a:solidFill>
                <a:latin typeface="Microsoft YaHei"/>
              </a:rPr>
              <a:t>两区新民班参与率相近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480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均约4%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Microsoft YaHei"/>
              </a:rPr>
              <a:t>资料来源：道亲进班率分析报表（统计期间：2026/01/01–2026/06/30）。指标包含求道总数、可开法会人数、已开法会人数及进新民班人数。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153"/>
                </a:solidFill>
                <a:latin typeface="Microsoft YaHei"/>
              </a:rPr>
              <a:t>北区与南区整体进度概况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呈现区总数，不再细分公坛、家坛、清口三组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271016"/>
            <a:ext cx="2697480" cy="1325880"/>
          </a:xfrm>
          <a:prstGeom prst="roundRect">
            <a:avLst/>
          </a:prstGeom>
          <a:solidFill>
            <a:srgbClr val="E6E9EE"/>
          </a:solidFill>
          <a:ln w="635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234440"/>
            <a:ext cx="269748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234440"/>
            <a:ext cx="82296" cy="1325880"/>
          </a:xfrm>
          <a:prstGeom prst="rect">
            <a:avLst/>
          </a:prstGeom>
          <a:solidFill>
            <a:srgbClr val="2D70B3"/>
          </a:solidFill>
          <a:ln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807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270"/>
                </a:solidFill>
                <a:latin typeface="Microsoft YaHei"/>
              </a:rPr>
              <a:t>北区｜求道总数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916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22831"/>
                </a:solidFill>
                <a:latin typeface="Microsoft YaHei"/>
              </a:rPr>
              <a:t>1,019人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270"/>
                </a:solidFill>
                <a:latin typeface="Microsoft YaHei"/>
              </a:rPr>
              <a:t>可开法会817人（80%）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1271016"/>
            <a:ext cx="2697480" cy="1325880"/>
          </a:xfrm>
          <a:prstGeom prst="roundRect">
            <a:avLst/>
          </a:prstGeom>
          <a:solidFill>
            <a:srgbClr val="E6E9EE"/>
          </a:solidFill>
          <a:ln w="635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11880" y="1234440"/>
            <a:ext cx="269748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11880" y="1234440"/>
            <a:ext cx="82296" cy="1325880"/>
          </a:xfrm>
          <a:prstGeom prst="rect">
            <a:avLst/>
          </a:prstGeom>
          <a:solidFill>
            <a:srgbClr val="2D70B3"/>
          </a:solidFill>
          <a:ln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13807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270"/>
                </a:solidFill>
                <a:latin typeface="Microsoft YaHei"/>
              </a:rPr>
              <a:t>北区｜已开法会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916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22831"/>
                </a:solidFill>
                <a:latin typeface="Microsoft YaHei"/>
              </a:rPr>
              <a:t>67人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270"/>
                </a:solidFill>
                <a:latin typeface="Microsoft YaHei"/>
              </a:rPr>
              <a:t>占求道总数约7%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271016"/>
            <a:ext cx="2697480" cy="1325880"/>
          </a:xfrm>
          <a:prstGeom prst="roundRect">
            <a:avLst/>
          </a:prstGeom>
          <a:solidFill>
            <a:srgbClr val="E6E9EE"/>
          </a:solidFill>
          <a:ln w="635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01968" y="1234440"/>
            <a:ext cx="269748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1968" y="1234440"/>
            <a:ext cx="82296" cy="1325880"/>
          </a:xfrm>
          <a:prstGeom prst="rect">
            <a:avLst/>
          </a:prstGeom>
          <a:solidFill>
            <a:srgbClr val="E88232"/>
          </a:solidFill>
          <a:ln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0568" y="13807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270"/>
                </a:solidFill>
                <a:latin typeface="Microsoft YaHei"/>
              </a:rPr>
              <a:t>南区｜求道总数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6916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22831"/>
                </a:solidFill>
                <a:latin typeface="Microsoft YaHei"/>
              </a:rPr>
              <a:t>1,271人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270"/>
                </a:solidFill>
                <a:latin typeface="Microsoft YaHei"/>
              </a:rPr>
              <a:t>可开法会950人（75%）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9488" y="1271016"/>
            <a:ext cx="2011680" cy="1325880"/>
          </a:xfrm>
          <a:prstGeom prst="roundRect">
            <a:avLst/>
          </a:prstGeom>
          <a:solidFill>
            <a:srgbClr val="E6E9EE"/>
          </a:solidFill>
          <a:ln w="635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592056" y="1234440"/>
            <a:ext cx="201168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92056" y="1234440"/>
            <a:ext cx="82296" cy="1325880"/>
          </a:xfrm>
          <a:prstGeom prst="rect">
            <a:avLst/>
          </a:prstGeom>
          <a:solidFill>
            <a:srgbClr val="E88232"/>
          </a:solidFill>
          <a:ln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0656" y="13807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270"/>
                </a:solidFill>
                <a:latin typeface="Microsoft YaHei"/>
              </a:rPr>
              <a:t>南区｜已开法会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1691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22831"/>
                </a:solidFill>
                <a:latin typeface="Microsoft YaHei"/>
              </a:rPr>
              <a:t>196人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6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270"/>
                </a:solidFill>
                <a:latin typeface="Microsoft YaHei"/>
              </a:rPr>
              <a:t>占求道总数约15%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880360"/>
            <a:ext cx="11018520" cy="3337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1089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Microsoft YaHei"/>
              </a:rPr>
              <a:t>区总数对比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831"/>
                </a:solidFill>
                <a:latin typeface="Microsoft YaHei"/>
              </a:rPr>
              <a:t>求道总数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3502151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0B3"/>
                </a:solidFill>
                <a:latin typeface="Microsoft YaHei"/>
              </a:rPr>
              <a:t>北区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24328" y="3538727"/>
            <a:ext cx="6949440" cy="201168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624328" y="3538727"/>
            <a:ext cx="5571580" cy="20116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01784" y="348386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1,019人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3867911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8232"/>
                </a:solidFill>
                <a:latin typeface="Microsoft YaHei"/>
              </a:rPr>
              <a:t>南区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4328" y="3904487"/>
            <a:ext cx="6949440" cy="201168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624328" y="3904487"/>
            <a:ext cx="6949440" cy="20116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01784" y="38496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1,271人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831"/>
                </a:solidFill>
                <a:latin typeface="Microsoft YaHei"/>
              </a:rPr>
              <a:t>可开法会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14223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0B3"/>
                </a:solidFill>
                <a:latin typeface="Microsoft YaHei"/>
              </a:rPr>
              <a:t>北区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4328" y="4178808"/>
            <a:ext cx="6949440" cy="201168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624328" y="4178808"/>
            <a:ext cx="4467106" cy="20116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01784" y="412394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817人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450799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8232"/>
                </a:solidFill>
                <a:latin typeface="Microsoft YaHei"/>
              </a:rPr>
              <a:t>南区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24328" y="4544568"/>
            <a:ext cx="6949440" cy="201168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624328" y="4544568"/>
            <a:ext cx="5194309" cy="20116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01784" y="448970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950人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831"/>
                </a:solidFill>
                <a:latin typeface="Microsoft YaHei"/>
              </a:rPr>
              <a:t>已开法会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78231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0B3"/>
                </a:solidFill>
                <a:latin typeface="Microsoft YaHei"/>
              </a:rPr>
              <a:t>北区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24328" y="4818888"/>
            <a:ext cx="6949440" cy="201168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624328" y="4818888"/>
            <a:ext cx="366335" cy="20116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01784" y="47640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67人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514807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8232"/>
                </a:solidFill>
                <a:latin typeface="Microsoft YaHei"/>
              </a:rPr>
              <a:t>南区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24328" y="5184648"/>
            <a:ext cx="6949440" cy="201168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624328" y="5184648"/>
            <a:ext cx="1071668" cy="20116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01784" y="512978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196人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831"/>
                </a:solidFill>
                <a:latin typeface="Microsoft YaHei"/>
              </a:rPr>
              <a:t>进新民班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542239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0B3"/>
                </a:solidFill>
                <a:latin typeface="Microsoft YaHei"/>
              </a:rPr>
              <a:t>北区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24328" y="5458968"/>
            <a:ext cx="6949440" cy="201168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624328" y="5458968"/>
            <a:ext cx="224175" cy="201168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01784" y="540410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41人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78815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8232"/>
                </a:solidFill>
                <a:latin typeface="Microsoft YaHei"/>
              </a:rPr>
              <a:t>南区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24328" y="5824728"/>
            <a:ext cx="6949440" cy="201168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2624328" y="5824728"/>
            <a:ext cx="300723" cy="201168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01784" y="57698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831"/>
                </a:solidFill>
                <a:latin typeface="Microsoft YaHei"/>
              </a:rPr>
              <a:t>55人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8280" y="31546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270"/>
                </a:solidFill>
                <a:latin typeface="Microsoft YaHei"/>
              </a:rPr>
              <a:t>图例：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55480" y="3136392"/>
            <a:ext cx="228600" cy="128016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2D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829800" y="3072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270"/>
                </a:solidFill>
                <a:latin typeface="Microsoft YaHei"/>
              </a:rPr>
              <a:t>北区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78440" y="3136392"/>
            <a:ext cx="228600" cy="128016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E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652760" y="3072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270"/>
                </a:solidFill>
                <a:latin typeface="Microsoft YaHei"/>
              </a:rPr>
              <a:t>南区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Microsoft YaHei"/>
              </a:rPr>
              <a:t>资料来源：道亲进班率分析报表（统计期间：2026/01/01–2026/06/30）。指标包含求道总数、可开法会人数、已开法会人数及进新民班人数。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153"/>
                </a:solidFill>
                <a:latin typeface="Microsoft YaHei"/>
              </a:rPr>
              <a:t>关键结论与后续关注点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270"/>
                </a:solidFill>
                <a:latin typeface="Microsoft YaHei"/>
              </a:rPr>
              <a:t>从“求道总数 → 可开法会 → 已开法会 → 进新民班”的整体推进观察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498348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70B3"/>
                </a:solidFill>
                <a:latin typeface="Microsoft YaHei"/>
              </a:rPr>
              <a:t>北区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4752" y="1984248"/>
            <a:ext cx="3474720" cy="402336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2048255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求道总数  1,019人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039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2D70B3"/>
                </a:solidFill>
                <a:latin typeface="Microsoft YaHei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2642615"/>
            <a:ext cx="2785913" cy="402336"/>
          </a:xfrm>
          <a:prstGeom prst="roundRect">
            <a:avLst/>
          </a:prstGeom>
          <a:solidFill>
            <a:srgbClr val="2D70B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2706623"/>
            <a:ext cx="269447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可开法会  817人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6974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2D70B3"/>
                </a:solidFill>
                <a:latin typeface="Microsoft YaHei"/>
              </a:rPr>
              <a:t>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3300983"/>
            <a:ext cx="502920" cy="402336"/>
          </a:xfrm>
          <a:prstGeom prst="roundRect">
            <a:avLst/>
          </a:prstGeom>
          <a:solidFill>
            <a:srgbClr val="6E91B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72768" y="3364991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已开法会  67人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3558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2D70B3"/>
                </a:solidFill>
                <a:latin typeface="Microsoft YaHei"/>
              </a:rPr>
              <a:t>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959351"/>
            <a:ext cx="502920" cy="402336"/>
          </a:xfrm>
          <a:prstGeom prst="roundRect">
            <a:avLst/>
          </a:prstGeom>
          <a:solidFill>
            <a:srgbClr val="2D945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72768" y="4023359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进新民班  41人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01421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2D70B3"/>
                </a:solidFill>
                <a:latin typeface="Microsoft YaHei"/>
              </a:rPr>
              <a:t>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617720"/>
            <a:ext cx="4343400" cy="566928"/>
          </a:xfrm>
          <a:prstGeom prst="roundRect">
            <a:avLst/>
          </a:prstGeom>
          <a:solidFill>
            <a:srgbClr val="E1EEFA"/>
          </a:solidFill>
          <a:ln w="635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718304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831"/>
                </a:solidFill>
                <a:latin typeface="Microsoft YaHei"/>
              </a:rPr>
              <a:t>可开法会率较高，后续重点可放在推进实际开法会与新民班衔接。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34440"/>
            <a:ext cx="498348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8232"/>
                </a:solidFill>
                <a:latin typeface="Microsoft YaHei"/>
              </a:rPr>
              <a:t>南区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1984248"/>
            <a:ext cx="3474720" cy="402336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59168" y="2048255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求道总数  1,271人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2039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E88232"/>
                </a:solidFill>
                <a:latin typeface="Microsoft YaHei"/>
              </a:rP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2642615"/>
            <a:ext cx="2597154" cy="402336"/>
          </a:xfrm>
          <a:prstGeom prst="roundRect">
            <a:avLst/>
          </a:prstGeom>
          <a:solidFill>
            <a:srgbClr val="E8823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9168" y="2706623"/>
            <a:ext cx="25057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可开法会  950人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6974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E88232"/>
                </a:solidFill>
                <a:latin typeface="Microsoft YaHei"/>
              </a:rPr>
              <a:t>75%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2" y="3300983"/>
            <a:ext cx="535834" cy="402336"/>
          </a:xfrm>
          <a:prstGeom prst="roundRect">
            <a:avLst/>
          </a:prstGeom>
          <a:solidFill>
            <a:srgbClr val="E6A05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9168" y="3364991"/>
            <a:ext cx="44439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已开法会  196人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33558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E88232"/>
                </a:solidFill>
                <a:latin typeface="Microsoft YaHei"/>
              </a:rPr>
              <a:t>15%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3959351"/>
            <a:ext cx="502920" cy="402336"/>
          </a:xfrm>
          <a:prstGeom prst="roundRect">
            <a:avLst/>
          </a:prstGeom>
          <a:solidFill>
            <a:srgbClr val="2D945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9168" y="4023359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Microsoft YaHei"/>
              </a:rPr>
              <a:t>进新民班  55人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401421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>
                <a:solidFill>
                  <a:srgbClr val="E88232"/>
                </a:solidFill>
                <a:latin typeface="Microsoft YaHei"/>
              </a:rPr>
              <a:t>4%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4617720"/>
            <a:ext cx="4343400" cy="566928"/>
          </a:xfrm>
          <a:prstGeom prst="roundRect">
            <a:avLst/>
          </a:prstGeom>
          <a:solidFill>
            <a:srgbClr val="FDEEDE"/>
          </a:solidFill>
          <a:ln w="6350">
            <a:solidFill>
              <a:srgbClr val="FD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4718304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831"/>
                </a:solidFill>
                <a:latin typeface="Microsoft YaHei"/>
              </a:rPr>
              <a:t>求道规模及已开法会人数较高，后续可持续提升新民班转化。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715000"/>
            <a:ext cx="10515600" cy="475488"/>
          </a:xfrm>
          <a:prstGeom prst="roundRect">
            <a:avLst/>
          </a:prstGeom>
          <a:solidFill>
            <a:srgbClr val="183153"/>
          </a:solidFill>
          <a:ln w="635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58155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整体而言，南区在求道规模及法会推进人数方面领先；北区则展现较高的可开法会覆盖率，两区新民班参与率维持相近水平。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Microsoft YaHei"/>
              </a:rPr>
              <a:t>资料来源：道亲进班率分析报表（统计期间：2026/01/01–2026/06/30）。指标包含求道总数、可开法会人数、已开法会人数及进新民班人数。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153"/>
                </a:solidFill>
                <a:latin typeface="Microsoft YaHei"/>
              </a:rPr>
              <a:t>讲解重点（可直接照读）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972800" cy="3657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1"/>
                </a:solidFill>
                <a:latin typeface="Microsoft YaHei"/>
              </a:rPr>
              <a:t>• 本页按照反馈要求，只呈现北区与南区的区总数，不再拆分公坛、家坛与清口三组。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1"/>
                </a:solidFill>
                <a:latin typeface="Microsoft YaHei"/>
              </a:rPr>
              <a:t>• 从求道总数来看，南区为1,271人，高于北区1,019人，多出252人，约高25%。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6090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1"/>
                </a:solidFill>
                <a:latin typeface="Microsoft YaHei"/>
              </a:rPr>
              <a:t>• 从可开法会比例来看，北区达到80%，高于南区75%，显示北区在可开法会覆盖率上较领先。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8269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1"/>
                </a:solidFill>
                <a:latin typeface="Microsoft YaHei"/>
              </a:rPr>
              <a:t>• 从已开法会人数来看，南区为196人，明显高于北区67人，说明南区在法会推进人数上表现较突出。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044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1"/>
                </a:solidFill>
                <a:latin typeface="Microsoft YaHei"/>
              </a:rPr>
              <a:t>• 两区进入新民班比例皆约为4%，后续可把重点放在法会后的持续引导与培育，提高新民班参与率。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972800" cy="1051560"/>
          </a:xfrm>
          <a:prstGeom prst="roundRect">
            <a:avLst/>
          </a:prstGeom>
          <a:solidFill>
            <a:srgbClr val="FCFDFF"/>
          </a:solidFill>
          <a:ln w="635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285232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A6270"/>
                </a:solidFill>
                <a:latin typeface="Microsoft YaHei"/>
              </a:rPr>
              <a:t>页脚建议：资料来源：道亲进班率分析报表（统计期间：2026/01/01–2026/06/30）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Microsoft YaHei"/>
              </a:rPr>
              <a:t>资料来源：道亲进班率分析报表（统计期间：2026/01/01–2026/06/30）。指标包含求道总数、可开法会人数、已开法会人数及进新民班人数。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69bf4a9-87bd-4dbf-a36c-1db5158e5def}" enabled="1" method="Privileged" siteId="{ea80952e-a476-42d4-aaf4-5457852b0f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2026-07-02T12:28:16Z</dcterms:modified>
  <cp:category/>
</cp:coreProperties>
</file>